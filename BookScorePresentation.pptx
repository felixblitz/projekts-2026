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74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3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8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9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69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9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55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7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7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4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00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190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37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06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19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55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8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307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msufoundation.org/portfolio-items/bookscor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unidadpiedrasvivas.blogspot.com/2016/07/una-gran-lupa.html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ractus.com.ua/uk/blog/cilova-auditoriya-yak-identifikuvati-svoih-kliientiv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dreads.com/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thestorygraph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photos/comprehensive-impact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72330AA-E11E-458E-8798-12C7F7738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 7">
            <a:extLst>
              <a:ext uri="{FF2B5EF4-FFF2-40B4-BE49-F238E27FC236}">
                <a16:creationId xmlns:a16="http://schemas.microsoft.com/office/drawing/2014/main" id="{A6BDC1B0-0C91-4230-BFEB-9C8ED19B9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1836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 useBgFill="1">
        <p:nvSpPr>
          <p:cNvPr id="1035" name="Freeform: Shape 1034">
            <a:extLst>
              <a:ext uri="{FF2B5EF4-FFF2-40B4-BE49-F238E27FC236}">
                <a16:creationId xmlns:a16="http://schemas.microsoft.com/office/drawing/2014/main" id="{68E0A26E-4EA8-4E6C-97A2-7B6C1C13F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503868" y="1217868"/>
            <a:ext cx="6858001" cy="4422264"/>
          </a:xfrm>
          <a:custGeom>
            <a:avLst/>
            <a:gdLst>
              <a:gd name="connsiteX0" fmla="*/ 6858001 w 6858001"/>
              <a:gd name="connsiteY0" fmla="*/ 1177 h 5896352"/>
              <a:gd name="connsiteX1" fmla="*/ 6858001 w 6858001"/>
              <a:gd name="connsiteY1" fmla="*/ 1344715 h 5896352"/>
              <a:gd name="connsiteX2" fmla="*/ 6858000 w 6858001"/>
              <a:gd name="connsiteY2" fmla="*/ 1344715 h 5896352"/>
              <a:gd name="connsiteX3" fmla="*/ 6858000 w 6858001"/>
              <a:gd name="connsiteY3" fmla="*/ 5896352 h 5896352"/>
              <a:gd name="connsiteX4" fmla="*/ 0 w 6858001"/>
              <a:gd name="connsiteY4" fmla="*/ 5896351 h 5896352"/>
              <a:gd name="connsiteX5" fmla="*/ 0 w 6858001"/>
              <a:gd name="connsiteY5" fmla="*/ 904459 h 5896352"/>
              <a:gd name="connsiteX6" fmla="*/ 1 w 6858001"/>
              <a:gd name="connsiteY6" fmla="*/ 904459 h 5896352"/>
              <a:gd name="connsiteX7" fmla="*/ 1 w 6858001"/>
              <a:gd name="connsiteY7" fmla="*/ 0 h 5896352"/>
              <a:gd name="connsiteX8" fmla="*/ 40463 w 6858001"/>
              <a:gd name="connsiteY8" fmla="*/ 5883 h 5896352"/>
              <a:gd name="connsiteX9" fmla="*/ 159107 w 6858001"/>
              <a:gd name="connsiteY9" fmla="*/ 23196 h 5896352"/>
              <a:gd name="connsiteX10" fmla="*/ 245518 w 6858001"/>
              <a:gd name="connsiteY10" fmla="*/ 35299 h 5896352"/>
              <a:gd name="connsiteX11" fmla="*/ 348388 w 6858001"/>
              <a:gd name="connsiteY11" fmla="*/ 48073 h 5896352"/>
              <a:gd name="connsiteX12" fmla="*/ 470460 w 6858001"/>
              <a:gd name="connsiteY12" fmla="*/ 63369 h 5896352"/>
              <a:gd name="connsiteX13" fmla="*/ 605563 w 6858001"/>
              <a:gd name="connsiteY13" fmla="*/ 79506 h 5896352"/>
              <a:gd name="connsiteX14" fmla="*/ 757810 w 6858001"/>
              <a:gd name="connsiteY14" fmla="*/ 96483 h 5896352"/>
              <a:gd name="connsiteX15" fmla="*/ 923774 w 6858001"/>
              <a:gd name="connsiteY15" fmla="*/ 114469 h 5896352"/>
              <a:gd name="connsiteX16" fmla="*/ 1104139 w 6858001"/>
              <a:gd name="connsiteY16" fmla="*/ 132454 h 5896352"/>
              <a:gd name="connsiteX17" fmla="*/ 1296163 w 6858001"/>
              <a:gd name="connsiteY17" fmla="*/ 150776 h 5896352"/>
              <a:gd name="connsiteX18" fmla="*/ 1503275 w 6858001"/>
              <a:gd name="connsiteY18" fmla="*/ 167753 h 5896352"/>
              <a:gd name="connsiteX19" fmla="*/ 1719988 w 6858001"/>
              <a:gd name="connsiteY19" fmla="*/ 184058 h 5896352"/>
              <a:gd name="connsiteX20" fmla="*/ 1949045 w 6858001"/>
              <a:gd name="connsiteY20" fmla="*/ 198849 h 5896352"/>
              <a:gd name="connsiteX21" fmla="*/ 2187703 w 6858001"/>
              <a:gd name="connsiteY21" fmla="*/ 212969 h 5896352"/>
              <a:gd name="connsiteX22" fmla="*/ 2436649 w 6858001"/>
              <a:gd name="connsiteY22" fmla="*/ 226248 h 5896352"/>
              <a:gd name="connsiteX23" fmla="*/ 2564208 w 6858001"/>
              <a:gd name="connsiteY23" fmla="*/ 230955 h 5896352"/>
              <a:gd name="connsiteX24" fmla="*/ 2694509 w 6858001"/>
              <a:gd name="connsiteY24" fmla="*/ 236165 h 5896352"/>
              <a:gd name="connsiteX25" fmla="*/ 2826868 w 6858001"/>
              <a:gd name="connsiteY25" fmla="*/ 241040 h 5896352"/>
              <a:gd name="connsiteX26" fmla="*/ 2959914 w 6858001"/>
              <a:gd name="connsiteY26" fmla="*/ 244234 h 5896352"/>
              <a:gd name="connsiteX27" fmla="*/ 3095702 w 6858001"/>
              <a:gd name="connsiteY27" fmla="*/ 247091 h 5896352"/>
              <a:gd name="connsiteX28" fmla="*/ 3232862 w 6858001"/>
              <a:gd name="connsiteY28" fmla="*/ 250117 h 5896352"/>
              <a:gd name="connsiteX29" fmla="*/ 3372765 w 6858001"/>
              <a:gd name="connsiteY29" fmla="*/ 252134 h 5896352"/>
              <a:gd name="connsiteX30" fmla="*/ 3514040 w 6858001"/>
              <a:gd name="connsiteY30" fmla="*/ 252134 h 5896352"/>
              <a:gd name="connsiteX31" fmla="*/ 3656686 w 6858001"/>
              <a:gd name="connsiteY31" fmla="*/ 253142 h 5896352"/>
              <a:gd name="connsiteX32" fmla="*/ 3800704 w 6858001"/>
              <a:gd name="connsiteY32" fmla="*/ 252134 h 5896352"/>
              <a:gd name="connsiteX33" fmla="*/ 3946780 w 6858001"/>
              <a:gd name="connsiteY33" fmla="*/ 250117 h 5896352"/>
              <a:gd name="connsiteX34" fmla="*/ 4092855 w 6858001"/>
              <a:gd name="connsiteY34" fmla="*/ 248268 h 5896352"/>
              <a:gd name="connsiteX35" fmla="*/ 4240988 w 6858001"/>
              <a:gd name="connsiteY35" fmla="*/ 244234 h 5896352"/>
              <a:gd name="connsiteX36" fmla="*/ 4390492 w 6858001"/>
              <a:gd name="connsiteY36" fmla="*/ 240032 h 5896352"/>
              <a:gd name="connsiteX37" fmla="*/ 4539997 w 6858001"/>
              <a:gd name="connsiteY37" fmla="*/ 235157 h 5896352"/>
              <a:gd name="connsiteX38" fmla="*/ 4690873 w 6858001"/>
              <a:gd name="connsiteY38" fmla="*/ 228266 h 5896352"/>
              <a:gd name="connsiteX39" fmla="*/ 4843120 w 6858001"/>
              <a:gd name="connsiteY39" fmla="*/ 220029 h 5896352"/>
              <a:gd name="connsiteX40" fmla="*/ 4996054 w 6858001"/>
              <a:gd name="connsiteY40" fmla="*/ 212129 h 5896352"/>
              <a:gd name="connsiteX41" fmla="*/ 5148987 w 6858001"/>
              <a:gd name="connsiteY41" fmla="*/ 202044 h 5896352"/>
              <a:gd name="connsiteX42" fmla="*/ 5303978 w 6858001"/>
              <a:gd name="connsiteY42" fmla="*/ 189941 h 5896352"/>
              <a:gd name="connsiteX43" fmla="*/ 5456911 w 6858001"/>
              <a:gd name="connsiteY43" fmla="*/ 177839 h 5896352"/>
              <a:gd name="connsiteX44" fmla="*/ 5612588 w 6858001"/>
              <a:gd name="connsiteY44" fmla="*/ 163887 h 5896352"/>
              <a:gd name="connsiteX45" fmla="*/ 5768950 w 6858001"/>
              <a:gd name="connsiteY45" fmla="*/ 148591 h 5896352"/>
              <a:gd name="connsiteX46" fmla="*/ 5923255 w 6858001"/>
              <a:gd name="connsiteY46" fmla="*/ 132455 h 5896352"/>
              <a:gd name="connsiteX47" fmla="*/ 6079618 w 6858001"/>
              <a:gd name="connsiteY47" fmla="*/ 113629 h 5896352"/>
              <a:gd name="connsiteX48" fmla="*/ 6235294 w 6858001"/>
              <a:gd name="connsiteY48" fmla="*/ 93458 h 5896352"/>
              <a:gd name="connsiteX49" fmla="*/ 6391657 w 6858001"/>
              <a:gd name="connsiteY49" fmla="*/ 73455 h 5896352"/>
              <a:gd name="connsiteX50" fmla="*/ 6547333 w 6858001"/>
              <a:gd name="connsiteY50" fmla="*/ 50091 h 5896352"/>
              <a:gd name="connsiteX51" fmla="*/ 6702324 w 6858001"/>
              <a:gd name="connsiteY51" fmla="*/ 26222 h 589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896352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896352"/>
                </a:lnTo>
                <a:lnTo>
                  <a:pt x="0" y="5896351"/>
                </a:lnTo>
                <a:lnTo>
                  <a:pt x="0" y="904459"/>
                </a:lnTo>
                <a:lnTo>
                  <a:pt x="1" y="904459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C1841CC0-B7A9-4828-B82F-9C6B433BD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08E05919-D800-40FD-A3BD-4B9CC407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571309" cy="6858000"/>
            <a:chOff x="0" y="0"/>
            <a:chExt cx="11428412" cy="6858000"/>
          </a:xfrm>
        </p:grpSpPr>
        <p:pic>
          <p:nvPicPr>
            <p:cNvPr id="1040" name="Picture 1039">
              <a:extLst>
                <a:ext uri="{FF2B5EF4-FFF2-40B4-BE49-F238E27FC236}">
                  <a16:creationId xmlns:a16="http://schemas.microsoft.com/office/drawing/2014/main" id="{DE70C79C-8688-4786-8FCD-43A4B5D5B7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13"/>
            <a:stretch/>
          </p:blipFill>
          <p:spPr>
            <a:xfrm>
              <a:off x="0" y="2669685"/>
              <a:ext cx="4037012" cy="4188315"/>
            </a:xfrm>
            <a:prstGeom prst="rect">
              <a:avLst/>
            </a:prstGeom>
          </p:spPr>
        </p:pic>
        <p:pic>
          <p:nvPicPr>
            <p:cNvPr id="1041" name="Picture 1040">
              <a:extLst>
                <a:ext uri="{FF2B5EF4-FFF2-40B4-BE49-F238E27FC236}">
                  <a16:creationId xmlns:a16="http://schemas.microsoft.com/office/drawing/2014/main" id="{9A6338A0-2BDA-4E79-A762-AAD8608C0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40"/>
            <a:stretch/>
          </p:blipFill>
          <p:spPr>
            <a:xfrm>
              <a:off x="0" y="2892347"/>
              <a:ext cx="1522412" cy="2365453"/>
            </a:xfrm>
            <a:prstGeom prst="rect">
              <a:avLst/>
            </a:prstGeom>
          </p:spPr>
        </p:pic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B685624D-3645-4129-9FF6-0C59DBF23B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tx2">
                    <a:alpha val="7000"/>
                    <a:lumMod val="60000"/>
                    <a:lumOff val="40000"/>
                  </a:schemeClr>
                </a:gs>
                <a:gs pos="69000">
                  <a:schemeClr val="tx2">
                    <a:alpha val="0"/>
                    <a:lumMod val="60000"/>
                    <a:lumOff val="40000"/>
                  </a:schemeClr>
                </a:gs>
                <a:gs pos="36000">
                  <a:schemeClr val="tx2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043" name="Picture 1042">
              <a:extLst>
                <a:ext uri="{FF2B5EF4-FFF2-40B4-BE49-F238E27FC236}">
                  <a16:creationId xmlns:a16="http://schemas.microsoft.com/office/drawing/2014/main" id="{03F24C1B-E4C1-43E7-84B3-DD476F383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3"/>
            <a:stretch/>
          </p:blipFill>
          <p:spPr>
            <a:xfrm>
              <a:off x="7999412" y="0"/>
              <a:ext cx="1603387" cy="1141407"/>
            </a:xfrm>
            <a:prstGeom prst="rect">
              <a:avLst/>
            </a:prstGeom>
          </p:spPr>
        </p:pic>
        <p:pic>
          <p:nvPicPr>
            <p:cNvPr id="1044" name="Picture 1043">
              <a:extLst>
                <a:ext uri="{FF2B5EF4-FFF2-40B4-BE49-F238E27FC236}">
                  <a16:creationId xmlns:a16="http://schemas.microsoft.com/office/drawing/2014/main" id="{8725CE5D-088A-4522-9817-4B485D6E7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320"/>
            <a:stretch/>
          </p:blipFill>
          <p:spPr>
            <a:xfrm>
              <a:off x="8605878" y="6096000"/>
              <a:ext cx="993734" cy="762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447800"/>
            <a:ext cx="3564299" cy="3329581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EBEBEB"/>
                </a:solidFill>
              </a:rPr>
              <a:t>BookScore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7" y="4777380"/>
            <a:ext cx="3564298" cy="861420"/>
          </a:xfrm>
        </p:spPr>
        <p:txBody>
          <a:bodyPr>
            <a:normAutofit/>
          </a:bodyPr>
          <a:lstStyle/>
          <a:p>
            <a:r>
              <a:rPr lang="lv-LV">
                <a:solidFill>
                  <a:schemeClr val="tx2">
                    <a:lumMod val="40000"/>
                    <a:lumOff val="60000"/>
                  </a:schemeClr>
                </a:solidFill>
              </a:rPr>
              <a:t>Kristians Švecs </a:t>
            </a:r>
            <a:endParaRPr lang="en-US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26" name="Picture 2" descr="Bookscore – MSU Research Foundation">
            <a:extLst>
              <a:ext uri="{FF2B5EF4-FFF2-40B4-BE49-F238E27FC236}">
                <a16:creationId xmlns:a16="http://schemas.microsoft.com/office/drawing/2014/main" id="{1CF89039-391E-5C84-9A38-95B4354D5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2515" y="2809091"/>
            <a:ext cx="3407794" cy="146841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9F68A3-E36F-8136-E742-8AB9EBA9F882}"/>
              </a:ext>
            </a:extLst>
          </p:cNvPr>
          <p:cNvSpPr txBox="1"/>
          <p:nvPr/>
        </p:nvSpPr>
        <p:spPr>
          <a:xfrm>
            <a:off x="6600829" y="661178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hlinkClick r:id="rId7"/>
              </a:rPr>
              <a:t>Bookscore</a:t>
            </a:r>
            <a:r>
              <a:rPr lang="en-US" sz="1000" dirty="0">
                <a:hlinkClick r:id="rId7"/>
              </a:rPr>
              <a:t> – MSU Research Foundation</a:t>
            </a:r>
            <a:endParaRPr lang="ru-RU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Analīze</a:t>
            </a:r>
            <a:r>
              <a:rPr lang="lv-LV" dirty="0"/>
              <a:t>s p</a:t>
            </a:r>
            <a:r>
              <a:rPr dirty="0" err="1"/>
              <a:t>roblēma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779905"/>
            <a:ext cx="6711654" cy="4195481"/>
          </a:xfrm>
        </p:spPr>
        <p:txBody>
          <a:bodyPr/>
          <a:lstStyle/>
          <a:p>
            <a:r>
              <a:rPr dirty="0" err="1"/>
              <a:t>Lasītāji</a:t>
            </a:r>
            <a:r>
              <a:rPr dirty="0"/>
              <a:t> </a:t>
            </a:r>
            <a:r>
              <a:rPr dirty="0" err="1"/>
              <a:t>bieži</a:t>
            </a:r>
            <a:r>
              <a:rPr dirty="0"/>
              <a:t> </a:t>
            </a:r>
            <a:r>
              <a:rPr dirty="0" err="1"/>
              <a:t>aizmirst</a:t>
            </a:r>
            <a:r>
              <a:rPr dirty="0"/>
              <a:t>, </a:t>
            </a:r>
            <a:r>
              <a:rPr dirty="0" err="1"/>
              <a:t>kurā</a:t>
            </a:r>
            <a:r>
              <a:rPr dirty="0"/>
              <a:t> </a:t>
            </a:r>
            <a:r>
              <a:rPr dirty="0" err="1"/>
              <a:t>lapā</a:t>
            </a:r>
            <a:r>
              <a:rPr dirty="0"/>
              <a:t> </a:t>
            </a:r>
            <a:r>
              <a:rPr dirty="0" err="1"/>
              <a:t>viņi</a:t>
            </a:r>
            <a:r>
              <a:rPr dirty="0"/>
              <a:t> </a:t>
            </a:r>
            <a:r>
              <a:rPr dirty="0" err="1"/>
              <a:t>apstājās</a:t>
            </a:r>
            <a:r>
              <a:rPr dirty="0"/>
              <a:t>.</a:t>
            </a:r>
          </a:p>
          <a:p>
            <a:r>
              <a:rPr dirty="0" err="1"/>
              <a:t>Piezīmes</a:t>
            </a:r>
            <a:r>
              <a:rPr dirty="0"/>
              <a:t> par </a:t>
            </a:r>
            <a:r>
              <a:rPr dirty="0" err="1"/>
              <a:t>grāmatām</a:t>
            </a:r>
            <a:r>
              <a:rPr dirty="0"/>
              <a:t> </a:t>
            </a:r>
            <a:r>
              <a:rPr dirty="0" err="1"/>
              <a:t>tiek</a:t>
            </a:r>
            <a:r>
              <a:rPr dirty="0"/>
              <a:t> </a:t>
            </a:r>
            <a:r>
              <a:rPr dirty="0" err="1"/>
              <a:t>glabātas</a:t>
            </a:r>
            <a:r>
              <a:rPr dirty="0"/>
              <a:t> </a:t>
            </a:r>
            <a:r>
              <a:rPr dirty="0" err="1"/>
              <a:t>dažādās</a:t>
            </a:r>
            <a:r>
              <a:rPr dirty="0"/>
              <a:t> </a:t>
            </a:r>
            <a:r>
              <a:rPr dirty="0" err="1"/>
              <a:t>vietās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pazūd</a:t>
            </a:r>
            <a:r>
              <a:rPr dirty="0"/>
              <a:t>.</a:t>
            </a:r>
          </a:p>
          <a:p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grūti</a:t>
            </a:r>
            <a:r>
              <a:rPr dirty="0"/>
              <a:t> </a:t>
            </a:r>
            <a:r>
              <a:rPr dirty="0" err="1"/>
              <a:t>sekot</a:t>
            </a:r>
            <a:r>
              <a:rPr dirty="0"/>
              <a:t> </a:t>
            </a:r>
            <a:r>
              <a:rPr dirty="0" err="1"/>
              <a:t>līdzi</a:t>
            </a:r>
            <a:r>
              <a:rPr dirty="0"/>
              <a:t> </a:t>
            </a:r>
            <a:r>
              <a:rPr dirty="0" err="1"/>
              <a:t>izlasītajām</a:t>
            </a:r>
            <a:r>
              <a:rPr dirty="0"/>
              <a:t> un </a:t>
            </a:r>
            <a:r>
              <a:rPr dirty="0" err="1"/>
              <a:t>nepabeigtajām</a:t>
            </a:r>
            <a:r>
              <a:rPr dirty="0"/>
              <a:t> </a:t>
            </a:r>
            <a:r>
              <a:rPr dirty="0" err="1"/>
              <a:t>grāmatām</a:t>
            </a:r>
            <a:r>
              <a:rPr dirty="0"/>
              <a:t>.</a:t>
            </a:r>
          </a:p>
          <a:p>
            <a:r>
              <a:rPr lang="lv-LV" dirty="0"/>
              <a:t>Lasītājām ir nepieciešama vienkāršāka un ērtāka vieta grāmatu glabāšanai.</a:t>
            </a:r>
            <a:endParaRPr dirty="0"/>
          </a:p>
        </p:txBody>
      </p:sp>
      <p:pic>
        <p:nvPicPr>
          <p:cNvPr id="2051" name="Picture 3" descr=".: Una gran LUPA">
            <a:extLst>
              <a:ext uri="{FF2B5EF4-FFF2-40B4-BE49-F238E27FC236}">
                <a16:creationId xmlns:a16="http://schemas.microsoft.com/office/drawing/2014/main" id="{52D93CAB-3CAB-D494-3725-9B67F5EF3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338" y="4044378"/>
            <a:ext cx="2601273" cy="260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72AA66-8A3B-6291-6C4B-B56992435B65}"/>
              </a:ext>
            </a:extLst>
          </p:cNvPr>
          <p:cNvSpPr txBox="1"/>
          <p:nvPr/>
        </p:nvSpPr>
        <p:spPr>
          <a:xfrm>
            <a:off x="6858000" y="659917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.: Una gran LUPA</a:t>
            </a:r>
            <a:endParaRPr lang="ru-RU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Analīze</a:t>
            </a:r>
            <a:r>
              <a:rPr lang="lv-LV" dirty="0"/>
              <a:t>s</a:t>
            </a:r>
            <a:r>
              <a:rPr dirty="0"/>
              <a:t> </a:t>
            </a:r>
            <a:r>
              <a:rPr dirty="0" err="1"/>
              <a:t>Mērķauditorija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Cilvēki</a:t>
            </a:r>
            <a:r>
              <a:rPr dirty="0"/>
              <a:t>, </a:t>
            </a:r>
            <a:r>
              <a:rPr dirty="0" err="1"/>
              <a:t>kuri</a:t>
            </a:r>
            <a:r>
              <a:rPr dirty="0"/>
              <a:t> </a:t>
            </a:r>
            <a:r>
              <a:rPr dirty="0" err="1"/>
              <a:t>regulāri</a:t>
            </a:r>
            <a:r>
              <a:rPr dirty="0"/>
              <a:t> </a:t>
            </a:r>
            <a:r>
              <a:rPr dirty="0" err="1"/>
              <a:t>lasa</a:t>
            </a:r>
            <a:r>
              <a:rPr dirty="0"/>
              <a:t> </a:t>
            </a:r>
            <a:r>
              <a:rPr dirty="0" err="1"/>
              <a:t>grāmatas</a:t>
            </a:r>
            <a:r>
              <a:rPr dirty="0"/>
              <a:t>.</a:t>
            </a:r>
          </a:p>
          <a:p>
            <a:r>
              <a:rPr dirty="0" err="1"/>
              <a:t>Lietotāji</a:t>
            </a:r>
            <a:r>
              <a:rPr dirty="0"/>
              <a:t> </a:t>
            </a:r>
            <a:r>
              <a:rPr dirty="0" err="1"/>
              <a:t>dažādās</a:t>
            </a:r>
            <a:r>
              <a:rPr dirty="0"/>
              <a:t> </a:t>
            </a:r>
            <a:r>
              <a:rPr dirty="0" err="1"/>
              <a:t>vecuma</a:t>
            </a:r>
            <a:r>
              <a:rPr dirty="0"/>
              <a:t> </a:t>
            </a:r>
            <a:r>
              <a:rPr dirty="0" err="1"/>
              <a:t>grupās</a:t>
            </a:r>
            <a:r>
              <a:rPr dirty="0"/>
              <a:t>.</a:t>
            </a:r>
          </a:p>
          <a:p>
            <a:r>
              <a:rPr dirty="0" err="1"/>
              <a:t>Lietotāji</a:t>
            </a:r>
            <a:r>
              <a:rPr dirty="0"/>
              <a:t>, </a:t>
            </a:r>
            <a:r>
              <a:rPr dirty="0" err="1"/>
              <a:t>kuri</a:t>
            </a:r>
            <a:r>
              <a:rPr dirty="0"/>
              <a:t> </a:t>
            </a:r>
            <a:r>
              <a:rPr dirty="0" err="1"/>
              <a:t>vēlas</a:t>
            </a:r>
            <a:r>
              <a:rPr dirty="0"/>
              <a:t> </a:t>
            </a:r>
            <a:r>
              <a:rPr dirty="0" err="1"/>
              <a:t>saglabāt</a:t>
            </a:r>
            <a:r>
              <a:rPr dirty="0"/>
              <a:t> </a:t>
            </a:r>
            <a:r>
              <a:rPr dirty="0" err="1"/>
              <a:t>piezīmes</a:t>
            </a:r>
            <a:r>
              <a:rPr dirty="0"/>
              <a:t> </a:t>
            </a:r>
            <a:r>
              <a:rPr lang="lv-LV" dirty="0"/>
              <a:t>par izlasīto grāmatu</a:t>
            </a:r>
            <a:r>
              <a:rPr dirty="0"/>
              <a:t>.</a:t>
            </a:r>
          </a:p>
        </p:txBody>
      </p:sp>
      <p:pic>
        <p:nvPicPr>
          <p:cNvPr id="4100" name="Picture 4" descr="Цільова аудиторія: специфіка, види, аналіз | Fractus">
            <a:extLst>
              <a:ext uri="{FF2B5EF4-FFF2-40B4-BE49-F238E27FC236}">
                <a16:creationId xmlns:a16="http://schemas.microsoft.com/office/drawing/2014/main" id="{F1CCD3B5-232C-6D2F-175E-0690E6293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990" y="3641710"/>
            <a:ext cx="4460950" cy="297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CC9315-94A6-AAE1-64AE-A6AE44C58DEF}"/>
              </a:ext>
            </a:extLst>
          </p:cNvPr>
          <p:cNvSpPr txBox="1"/>
          <p:nvPr/>
        </p:nvSpPr>
        <p:spPr>
          <a:xfrm>
            <a:off x="8097424" y="6550223"/>
            <a:ext cx="1046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Fractus</a:t>
            </a:r>
            <a:endParaRPr lang="ru-RU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629266"/>
            <a:ext cx="6780833" cy="16419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 err="1"/>
              <a:t>Eksistējošo</a:t>
            </a:r>
            <a:r>
              <a:rPr lang="en-US" sz="3600" dirty="0"/>
              <a:t> </a:t>
            </a:r>
            <a:r>
              <a:rPr lang="en-US" sz="3600" dirty="0" err="1"/>
              <a:t>risinājumu</a:t>
            </a:r>
            <a:r>
              <a:rPr lang="en-US" sz="3600" dirty="0"/>
              <a:t> </a:t>
            </a:r>
            <a:r>
              <a:rPr lang="en-US" sz="3600" dirty="0" err="1"/>
              <a:t>analīze</a:t>
            </a:r>
            <a:endParaRPr lang="en-US" sz="3600" dirty="0"/>
          </a:p>
        </p:txBody>
      </p:sp>
      <p:sp>
        <p:nvSpPr>
          <p:cNvPr id="3112" name="Rectangle 3111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4" y="1269759"/>
            <a:ext cx="4159898" cy="4978640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1. Goodreads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 err="1"/>
              <a:t>Platforma</a:t>
            </a:r>
            <a:r>
              <a:rPr lang="en-US" dirty="0"/>
              <a:t> </a:t>
            </a:r>
            <a:r>
              <a:rPr lang="en-US" dirty="0" err="1"/>
              <a:t>grāmatu</a:t>
            </a:r>
            <a:r>
              <a:rPr lang="en-US" dirty="0"/>
              <a:t> </a:t>
            </a:r>
            <a:r>
              <a:rPr lang="en-US" dirty="0" err="1"/>
              <a:t>uzskaitei</a:t>
            </a:r>
            <a:r>
              <a:rPr lang="en-US" dirty="0"/>
              <a:t> un </a:t>
            </a:r>
            <a:r>
              <a:rPr lang="en-US" dirty="0" err="1"/>
              <a:t>atsauksmēm</a:t>
            </a:r>
            <a:r>
              <a:rPr lang="en-US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 err="1"/>
              <a:t>Plusi</a:t>
            </a:r>
            <a:r>
              <a:rPr lang="en-US" dirty="0"/>
              <a:t>:</a:t>
            </a:r>
            <a:r>
              <a:rPr lang="lv-LV" dirty="0"/>
              <a:t> </a:t>
            </a:r>
            <a:r>
              <a:rPr lang="en-US" dirty="0"/>
              <a:t>Liela </a:t>
            </a:r>
            <a:r>
              <a:rPr lang="en-US" dirty="0" err="1"/>
              <a:t>kopiena</a:t>
            </a:r>
            <a:r>
              <a:rPr lang="lv-LV" dirty="0"/>
              <a:t>, </a:t>
            </a:r>
            <a:r>
              <a:rPr lang="en-US" dirty="0" err="1"/>
              <a:t>Daudz</a:t>
            </a:r>
            <a:r>
              <a:rPr lang="en-US" dirty="0"/>
              <a:t> </a:t>
            </a:r>
            <a:r>
              <a:rPr lang="en-US" dirty="0" err="1"/>
              <a:t>atsauksmju</a:t>
            </a:r>
            <a:r>
              <a:rPr lang="lv-LV" dirty="0"/>
              <a:t>, </a:t>
            </a:r>
            <a:r>
              <a:rPr lang="en-US" dirty="0" err="1"/>
              <a:t>Sociālās</a:t>
            </a:r>
            <a:r>
              <a:rPr lang="en-US" dirty="0"/>
              <a:t> </a:t>
            </a:r>
            <a:r>
              <a:rPr lang="en-US" dirty="0" err="1"/>
              <a:t>funkcijas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 err="1"/>
              <a:t>Mīnusi</a:t>
            </a:r>
            <a:r>
              <a:rPr lang="en-US" dirty="0"/>
              <a:t>:</a:t>
            </a:r>
            <a:r>
              <a:rPr lang="lv-LV" dirty="0"/>
              <a:t> </a:t>
            </a:r>
            <a:r>
              <a:rPr lang="en-US" dirty="0" err="1"/>
              <a:t>Novecojis</a:t>
            </a:r>
            <a:r>
              <a:rPr lang="en-US" dirty="0"/>
              <a:t> dizains</a:t>
            </a:r>
            <a:r>
              <a:rPr lang="lv-LV" dirty="0"/>
              <a:t>, </a:t>
            </a:r>
            <a:r>
              <a:rPr lang="en-US" dirty="0"/>
              <a:t>Maz </a:t>
            </a:r>
            <a:r>
              <a:rPr lang="en-US" dirty="0" err="1"/>
              <a:t>statistikas</a:t>
            </a:r>
            <a:r>
              <a:rPr lang="lv-LV" dirty="0"/>
              <a:t>, </a:t>
            </a:r>
            <a:r>
              <a:rPr lang="en-US" dirty="0" err="1"/>
              <a:t>Pārblīvēts</a:t>
            </a:r>
            <a:r>
              <a:rPr lang="en-US" dirty="0"/>
              <a:t> </a:t>
            </a:r>
            <a:r>
              <a:rPr lang="en-US" dirty="0" err="1"/>
              <a:t>interfeiss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2. </a:t>
            </a:r>
            <a:r>
              <a:rPr lang="en-US" dirty="0" err="1"/>
              <a:t>StoryGraph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Moderns </a:t>
            </a:r>
            <a:r>
              <a:rPr lang="en-US" dirty="0" err="1"/>
              <a:t>rīks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fokusu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statistiku</a:t>
            </a:r>
            <a:r>
              <a:rPr lang="en-US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 err="1"/>
              <a:t>Plusi</a:t>
            </a:r>
            <a:r>
              <a:rPr lang="en-US" dirty="0"/>
              <a:t>:</a:t>
            </a:r>
            <a:r>
              <a:rPr lang="lv-LV" dirty="0"/>
              <a:t> </a:t>
            </a:r>
            <a:r>
              <a:rPr lang="en-US" dirty="0" err="1"/>
              <a:t>Skaidrs</a:t>
            </a:r>
            <a:r>
              <a:rPr lang="en-US" dirty="0"/>
              <a:t> dizains</a:t>
            </a:r>
            <a:r>
              <a:rPr lang="lv-LV" dirty="0"/>
              <a:t>, </a:t>
            </a:r>
            <a:r>
              <a:rPr lang="en-US" dirty="0" err="1"/>
              <a:t>Detalizēta</a:t>
            </a:r>
            <a:r>
              <a:rPr lang="en-US" dirty="0"/>
              <a:t> </a:t>
            </a:r>
            <a:r>
              <a:rPr lang="en-US" dirty="0" err="1"/>
              <a:t>statistika</a:t>
            </a:r>
            <a:r>
              <a:rPr lang="lv-LV" dirty="0"/>
              <a:t>, </a:t>
            </a:r>
            <a:r>
              <a:rPr lang="en-US" dirty="0" err="1"/>
              <a:t>Personalizēti</a:t>
            </a:r>
            <a:r>
              <a:rPr lang="en-US" dirty="0"/>
              <a:t> </a:t>
            </a:r>
            <a:r>
              <a:rPr lang="en-US" dirty="0" err="1"/>
              <a:t>ieteikumi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 err="1"/>
              <a:t>Mīnusi</a:t>
            </a:r>
            <a:r>
              <a:rPr lang="en-US" dirty="0"/>
              <a:t>:</a:t>
            </a:r>
            <a:r>
              <a:rPr lang="lv-LV" dirty="0"/>
              <a:t> </a:t>
            </a:r>
            <a:r>
              <a:rPr lang="en-US" dirty="0" err="1"/>
              <a:t>Mazāka</a:t>
            </a:r>
            <a:r>
              <a:rPr lang="en-US" dirty="0"/>
              <a:t> </a:t>
            </a:r>
            <a:r>
              <a:rPr lang="en-US" dirty="0" err="1"/>
              <a:t>kopiena</a:t>
            </a:r>
            <a:r>
              <a:rPr lang="lv-LV" dirty="0"/>
              <a:t>, </a:t>
            </a:r>
            <a:r>
              <a:rPr lang="en-US" dirty="0"/>
              <a:t>Maz </a:t>
            </a:r>
            <a:r>
              <a:rPr lang="en-US" dirty="0" err="1"/>
              <a:t>sociālo</a:t>
            </a:r>
            <a:r>
              <a:rPr lang="en-US" dirty="0"/>
              <a:t> </a:t>
            </a:r>
            <a:r>
              <a:rPr lang="en-US" dirty="0" err="1"/>
              <a:t>funkciju</a:t>
            </a:r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790CF3B-1130-7C97-1AEB-78D131670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688" y="4411149"/>
            <a:ext cx="4334977" cy="2095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EF61C9-9AEF-D955-A12E-B912D45638DC}"/>
              </a:ext>
            </a:extLst>
          </p:cNvPr>
          <p:cNvSpPr txBox="1"/>
          <p:nvPr/>
        </p:nvSpPr>
        <p:spPr>
          <a:xfrm>
            <a:off x="7488172" y="650710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The </a:t>
            </a:r>
            <a:r>
              <a:rPr lang="en-US" sz="1400" dirty="0" err="1">
                <a:hlinkClick r:id="rId4"/>
              </a:rPr>
              <a:t>StoryGraph</a:t>
            </a:r>
            <a:endParaRPr lang="ru-RU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228922-896E-1223-DF3C-D88387AE6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358" y="2815454"/>
            <a:ext cx="87886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49E82E7-2640-0D25-DEA5-78CCE76C61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512" t="1" r="2149" b="3548"/>
          <a:stretch>
            <a:fillRect/>
          </a:stretch>
        </p:blipFill>
        <p:spPr>
          <a:xfrm>
            <a:off x="6617203" y="1353840"/>
            <a:ext cx="2309462" cy="25826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0EBF13-436B-33A5-FEAC-DCC5475CFB05}"/>
              </a:ext>
            </a:extLst>
          </p:cNvPr>
          <p:cNvSpPr txBox="1"/>
          <p:nvPr/>
        </p:nvSpPr>
        <p:spPr>
          <a:xfrm>
            <a:off x="7750264" y="3949483"/>
            <a:ext cx="12073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6"/>
              </a:rPr>
              <a:t>Goodreads</a:t>
            </a:r>
            <a:endParaRPr lang="ru-RU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Funkcionālās</a:t>
            </a:r>
            <a:r>
              <a:rPr dirty="0"/>
              <a:t> </a:t>
            </a:r>
            <a:r>
              <a:rPr dirty="0" err="1"/>
              <a:t>prasības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Pievienot</a:t>
            </a:r>
            <a:r>
              <a:rPr dirty="0"/>
              <a:t> </a:t>
            </a:r>
            <a:r>
              <a:rPr dirty="0" err="1"/>
              <a:t>jaunu</a:t>
            </a:r>
            <a:r>
              <a:rPr dirty="0"/>
              <a:t> </a:t>
            </a:r>
            <a:r>
              <a:rPr dirty="0" err="1"/>
              <a:t>grāmatu</a:t>
            </a:r>
            <a:r>
              <a:rPr dirty="0"/>
              <a:t> </a:t>
            </a:r>
            <a:r>
              <a:rPr dirty="0" err="1"/>
              <a:t>ar</a:t>
            </a:r>
            <a:r>
              <a:rPr dirty="0"/>
              <a:t> </a:t>
            </a:r>
            <a:r>
              <a:rPr dirty="0" err="1"/>
              <a:t>nosaukumu</a:t>
            </a:r>
            <a:r>
              <a:rPr dirty="0"/>
              <a:t>, </a:t>
            </a:r>
            <a:r>
              <a:rPr dirty="0" err="1"/>
              <a:t>autoru</a:t>
            </a:r>
            <a:r>
              <a:rPr dirty="0"/>
              <a:t> un </a:t>
            </a:r>
            <a:r>
              <a:rPr dirty="0" err="1"/>
              <a:t>lapu</a:t>
            </a:r>
            <a:r>
              <a:rPr dirty="0"/>
              <a:t> </a:t>
            </a:r>
            <a:r>
              <a:rPr dirty="0" err="1"/>
              <a:t>skaitu</a:t>
            </a:r>
            <a:r>
              <a:rPr dirty="0"/>
              <a:t>.</a:t>
            </a:r>
          </a:p>
          <a:p>
            <a:r>
              <a:rPr dirty="0" err="1"/>
              <a:t>Parādīt</a:t>
            </a:r>
            <a:r>
              <a:rPr dirty="0"/>
              <a:t> </a:t>
            </a:r>
            <a:r>
              <a:rPr dirty="0" err="1"/>
              <a:t>progresu</a:t>
            </a:r>
            <a:r>
              <a:rPr dirty="0"/>
              <a:t> un </a:t>
            </a:r>
            <a:r>
              <a:rPr dirty="0" err="1"/>
              <a:t>izlasīto</a:t>
            </a:r>
            <a:r>
              <a:rPr dirty="0"/>
              <a:t> </a:t>
            </a:r>
            <a:r>
              <a:rPr dirty="0" err="1"/>
              <a:t>lapu</a:t>
            </a:r>
            <a:r>
              <a:rPr dirty="0"/>
              <a:t> </a:t>
            </a:r>
            <a:r>
              <a:rPr dirty="0" err="1"/>
              <a:t>procentus</a:t>
            </a:r>
            <a:r>
              <a:rPr dirty="0"/>
              <a:t>.</a:t>
            </a:r>
          </a:p>
          <a:p>
            <a:r>
              <a:rPr dirty="0" err="1"/>
              <a:t>Pievienot</a:t>
            </a:r>
            <a:r>
              <a:rPr dirty="0"/>
              <a:t> </a:t>
            </a:r>
            <a:r>
              <a:rPr dirty="0" err="1"/>
              <a:t>piezīmes</a:t>
            </a:r>
            <a:r>
              <a:rPr dirty="0"/>
              <a:t> un </a:t>
            </a:r>
            <a:r>
              <a:rPr dirty="0" err="1"/>
              <a:t>kopsavilkumus</a:t>
            </a:r>
            <a:r>
              <a:rPr dirty="0"/>
              <a:t>.</a:t>
            </a:r>
          </a:p>
          <a:p>
            <a:r>
              <a:rPr dirty="0" err="1"/>
              <a:t>Kārtot</a:t>
            </a:r>
            <a:r>
              <a:rPr dirty="0"/>
              <a:t> </a:t>
            </a:r>
            <a:r>
              <a:rPr dirty="0" err="1"/>
              <a:t>grāmatas</a:t>
            </a:r>
            <a:r>
              <a:rPr dirty="0"/>
              <a:t> </a:t>
            </a:r>
            <a:r>
              <a:rPr dirty="0" err="1"/>
              <a:t>pēc</a:t>
            </a:r>
            <a:r>
              <a:rPr dirty="0"/>
              <a:t> </a:t>
            </a:r>
            <a:r>
              <a:rPr dirty="0" err="1"/>
              <a:t>nosaukuma</a:t>
            </a:r>
            <a:r>
              <a:rPr dirty="0"/>
              <a:t>, </a:t>
            </a:r>
            <a:r>
              <a:rPr dirty="0" err="1"/>
              <a:t>autora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statusa</a:t>
            </a:r>
            <a:r>
              <a:rPr dirty="0"/>
              <a:t>.</a:t>
            </a:r>
          </a:p>
          <a:p>
            <a:r>
              <a:rPr dirty="0" err="1"/>
              <a:t>Mainīt</a:t>
            </a:r>
            <a:r>
              <a:rPr dirty="0"/>
              <a:t> </a:t>
            </a:r>
            <a:r>
              <a:rPr dirty="0" err="1"/>
              <a:t>statusu</a:t>
            </a:r>
            <a:r>
              <a:rPr dirty="0"/>
              <a:t>: </a:t>
            </a:r>
            <a:r>
              <a:rPr dirty="0" err="1"/>
              <a:t>lasīšanā</a:t>
            </a:r>
            <a:r>
              <a:rPr dirty="0"/>
              <a:t>, </a:t>
            </a:r>
            <a:r>
              <a:rPr dirty="0" err="1"/>
              <a:t>pabeigta</a:t>
            </a:r>
            <a:r>
              <a:rPr dirty="0"/>
              <a:t>, </a:t>
            </a:r>
            <a:r>
              <a:rPr dirty="0" err="1"/>
              <a:t>uz</a:t>
            </a:r>
            <a:r>
              <a:rPr dirty="0"/>
              <a:t> </a:t>
            </a:r>
            <a:r>
              <a:rPr dirty="0" err="1"/>
              <a:t>vēlāk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Nefunkcionālās</a:t>
            </a:r>
            <a:r>
              <a:rPr dirty="0"/>
              <a:t> </a:t>
            </a:r>
            <a:r>
              <a:rPr dirty="0" err="1"/>
              <a:t>prasības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Sistēmas</a:t>
            </a:r>
            <a:r>
              <a:rPr dirty="0"/>
              <a:t> </a:t>
            </a:r>
            <a:r>
              <a:rPr dirty="0" err="1"/>
              <a:t>reakcijas</a:t>
            </a:r>
            <a:r>
              <a:rPr dirty="0"/>
              <a:t> </a:t>
            </a:r>
            <a:r>
              <a:rPr dirty="0" err="1"/>
              <a:t>laiks</a:t>
            </a:r>
            <a:r>
              <a:rPr dirty="0"/>
              <a:t> </a:t>
            </a:r>
            <a:r>
              <a:rPr dirty="0" err="1"/>
              <a:t>līdz</a:t>
            </a:r>
            <a:r>
              <a:rPr dirty="0"/>
              <a:t> 2 </a:t>
            </a:r>
            <a:r>
              <a:rPr dirty="0" err="1"/>
              <a:t>sekundēm</a:t>
            </a:r>
            <a:r>
              <a:rPr dirty="0"/>
              <a:t>.</a:t>
            </a:r>
          </a:p>
          <a:p>
            <a:r>
              <a:rPr dirty="0" err="1"/>
              <a:t>Vienkāršs</a:t>
            </a:r>
            <a:r>
              <a:rPr dirty="0"/>
              <a:t> un </a:t>
            </a:r>
            <a:r>
              <a:rPr dirty="0" err="1"/>
              <a:t>saprotams</a:t>
            </a:r>
            <a:r>
              <a:rPr dirty="0"/>
              <a:t> </a:t>
            </a:r>
            <a:r>
              <a:rPr dirty="0" err="1"/>
              <a:t>interfeiss</a:t>
            </a:r>
            <a:r>
              <a:rPr dirty="0"/>
              <a:t>.</a:t>
            </a:r>
          </a:p>
          <a:p>
            <a:r>
              <a:rPr dirty="0"/>
              <a:t>Datu </a:t>
            </a:r>
            <a:r>
              <a:rPr dirty="0" err="1"/>
              <a:t>saglabāšana</a:t>
            </a:r>
            <a:r>
              <a:rPr dirty="0"/>
              <a:t> bez </a:t>
            </a:r>
            <a:r>
              <a:rPr dirty="0" err="1"/>
              <a:t>zudumiem</a:t>
            </a:r>
            <a:r>
              <a:rPr dirty="0"/>
              <a:t>.</a:t>
            </a:r>
          </a:p>
          <a:p>
            <a:r>
              <a:rPr dirty="0" err="1"/>
              <a:t>Stabila</a:t>
            </a:r>
            <a:r>
              <a:rPr dirty="0"/>
              <a:t> un </a:t>
            </a:r>
            <a:r>
              <a:rPr dirty="0" err="1"/>
              <a:t>uzticama</a:t>
            </a:r>
            <a:r>
              <a:rPr dirty="0"/>
              <a:t> </a:t>
            </a:r>
            <a:r>
              <a:rPr dirty="0" err="1"/>
              <a:t>darbība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Darba</a:t>
            </a:r>
            <a:r>
              <a:rPr dirty="0"/>
              <a:t> </a:t>
            </a:r>
            <a:r>
              <a:rPr dirty="0" err="1"/>
              <a:t>uzdevumi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Izstrādāt</a:t>
            </a:r>
            <a:r>
              <a:rPr dirty="0"/>
              <a:t> datu </a:t>
            </a:r>
            <a:r>
              <a:rPr dirty="0" err="1"/>
              <a:t>glabāšanas</a:t>
            </a:r>
            <a:r>
              <a:rPr dirty="0"/>
              <a:t> </a:t>
            </a:r>
            <a:r>
              <a:rPr dirty="0" err="1"/>
              <a:t>sistēmu</a:t>
            </a:r>
            <a:r>
              <a:rPr dirty="0"/>
              <a:t>.</a:t>
            </a:r>
          </a:p>
          <a:p>
            <a:r>
              <a:rPr dirty="0" err="1"/>
              <a:t>Realizēt</a:t>
            </a:r>
            <a:r>
              <a:rPr dirty="0"/>
              <a:t> </a:t>
            </a:r>
            <a:r>
              <a:rPr dirty="0" err="1"/>
              <a:t>grāmatu</a:t>
            </a:r>
            <a:r>
              <a:rPr dirty="0"/>
              <a:t> </a:t>
            </a:r>
            <a:r>
              <a:rPr dirty="0" err="1"/>
              <a:t>pievienošanas</a:t>
            </a:r>
            <a:r>
              <a:rPr dirty="0"/>
              <a:t> </a:t>
            </a:r>
            <a:r>
              <a:rPr dirty="0" err="1"/>
              <a:t>funkciju</a:t>
            </a:r>
            <a:r>
              <a:rPr dirty="0"/>
              <a:t>.</a:t>
            </a:r>
          </a:p>
          <a:p>
            <a:r>
              <a:rPr dirty="0" err="1"/>
              <a:t>Izveidot</a:t>
            </a:r>
            <a:r>
              <a:rPr dirty="0"/>
              <a:t> </a:t>
            </a:r>
            <a:r>
              <a:rPr dirty="0" err="1"/>
              <a:t>progresa</a:t>
            </a:r>
            <a:r>
              <a:rPr dirty="0"/>
              <a:t> </a:t>
            </a:r>
            <a:r>
              <a:rPr dirty="0" err="1"/>
              <a:t>aprēķināšanu</a:t>
            </a:r>
            <a:r>
              <a:rPr dirty="0"/>
              <a:t>.</a:t>
            </a:r>
          </a:p>
          <a:p>
            <a:r>
              <a:rPr dirty="0" err="1"/>
              <a:t>Testēt</a:t>
            </a:r>
            <a:r>
              <a:rPr dirty="0"/>
              <a:t> un </a:t>
            </a:r>
            <a:r>
              <a:rPr dirty="0" err="1"/>
              <a:t>labot</a:t>
            </a:r>
            <a:r>
              <a:rPr dirty="0"/>
              <a:t> </a:t>
            </a:r>
            <a:r>
              <a:rPr dirty="0" err="1"/>
              <a:t>kļūdas</a:t>
            </a:r>
            <a:r>
              <a:rPr dirty="0"/>
              <a:t>.</a:t>
            </a:r>
          </a:p>
        </p:txBody>
      </p:sp>
      <p:pic>
        <p:nvPicPr>
          <p:cNvPr id="5122" name="Picture 2" descr="140+ Comprehensive Impact Stock Photos, Pictures &amp; Royalty-Free Images ...">
            <a:extLst>
              <a:ext uri="{FF2B5EF4-FFF2-40B4-BE49-F238E27FC236}">
                <a16:creationId xmlns:a16="http://schemas.microsoft.com/office/drawing/2014/main" id="{4C4E77C0-8532-2C8C-6EEF-7F1295680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053" y="2939297"/>
            <a:ext cx="3642703" cy="3642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EE69C1-9D1A-EB9C-2F30-F76E7ACF3816}"/>
              </a:ext>
            </a:extLst>
          </p:cNvPr>
          <p:cNvSpPr txBox="1"/>
          <p:nvPr/>
        </p:nvSpPr>
        <p:spPr>
          <a:xfrm>
            <a:off x="8314106" y="65820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iStock</a:t>
            </a:r>
            <a:endParaRPr lang="ru-RU" sz="1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TM02836342[[fn=Ион]]</Template>
  <TotalTime>162</TotalTime>
  <Words>233</Words>
  <Application>Microsoft Office PowerPoint</Application>
  <PresentationFormat>Экран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Ион</vt:lpstr>
      <vt:lpstr>BookScore</vt:lpstr>
      <vt:lpstr>Analīzes problēma</vt:lpstr>
      <vt:lpstr>Analīzes Mērķauditorija</vt:lpstr>
      <vt:lpstr>Eksistējošo risinājumu analīze</vt:lpstr>
      <vt:lpstr>Funkcionālās prasības</vt:lpstr>
      <vt:lpstr>Nefunkcionālās prasības</vt:lpstr>
      <vt:lpstr>Darba uzdevumi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FeLiX Blitz</cp:lastModifiedBy>
  <cp:revision>3</cp:revision>
  <dcterms:created xsi:type="dcterms:W3CDTF">2013-01-27T09:14:16Z</dcterms:created>
  <dcterms:modified xsi:type="dcterms:W3CDTF">2026-05-13T18:16:37Z</dcterms:modified>
  <cp:category/>
</cp:coreProperties>
</file>